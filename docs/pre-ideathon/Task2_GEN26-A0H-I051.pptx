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60" r:id="rId5"/>
    <p:sldId id="261" r:id="rId6"/>
    <p:sldId id="259"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1"/>
    <p:restoredTop sz="94610"/>
  </p:normalViewPr>
  <p:slideViewPr>
    <p:cSldViewPr snapToGrid="0" snapToObjects="1">
      <p:cViewPr varScale="1">
        <p:scale>
          <a:sx n="93" d="100"/>
          <a:sy n="93" d="100"/>
        </p:scale>
        <p:origin x="-75" y="-5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pPr algn="ct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pPr algn="ct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414016"/>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2441486" y="5139591"/>
            <a:ext cx="5669280" cy="1124049"/>
          </a:xfrm>
          <a:prstGeom prst="rect">
            <a:avLst/>
          </a:prstGeom>
          <a:noFill/>
          <a:ln/>
        </p:spPr>
        <p:txBody>
          <a:bodyPr wrap="square" lIns="0" tIns="0" rIns="0" bIns="0" rtlCol="0" anchor="ctr"/>
          <a:lstStyle/>
          <a:p>
            <a:pPr marL="0" indent="0">
              <a:buNone/>
            </a:pPr>
            <a:endParaRPr lang="en-US" sz="1600" dirty="0"/>
          </a:p>
        </p:txBody>
      </p:sp>
      <p:sp>
        <p:nvSpPr>
          <p:cNvPr id="15" name="Cover Fields"/>
          <p:cNvSpPr txBox="1"/>
          <p:nvPr/>
        </p:nvSpPr>
        <p:spPr>
          <a:xfrm>
            <a:off x="296002" y="2960016"/>
            <a:ext cx="5921918" cy="3897984"/>
          </a:xfrm>
          <a:prstGeom prst="rect">
            <a:avLst/>
          </a:prstGeom>
          <a:solidFill>
            <a:schemeClr val="accent2"/>
          </a:solidFill>
          <a:ln/>
        </p:spPr>
        <p:txBody>
          <a:bodyPr wrap="square" lIns="0" tIns="0" rIns="0" bIns="0" rtlCol="0" anchor="t"/>
          <a:lstStyle/>
          <a:p>
            <a:pPr marL="279400" indent="-279400">
              <a:spcAft>
                <a:spcPts val="1400"/>
              </a:spcAft>
              <a:buClr>
                <a:schemeClr val="accent3"/>
              </a:buClr>
              <a:buSzPct val="100000"/>
              <a:buChar char="•"/>
            </a:pPr>
            <a:r>
              <a:rPr lang="en-US" sz="1800" dirty="0" smtClean="0">
                <a:solidFill>
                  <a:schemeClr val="bg1"/>
                </a:solidFill>
              </a:rPr>
              <a:t>Team </a:t>
            </a:r>
            <a:r>
              <a:rPr lang="en-US" sz="1800" dirty="0">
                <a:solidFill>
                  <a:schemeClr val="bg1"/>
                </a:solidFill>
              </a:rPr>
              <a:t>Name </a:t>
            </a:r>
            <a:r>
              <a:rPr lang="en-US" sz="1800" dirty="0" smtClean="0">
                <a:solidFill>
                  <a:schemeClr val="bg1"/>
                </a:solidFill>
              </a:rPr>
              <a:t>– YUKTHI</a:t>
            </a:r>
            <a:endParaRPr lang="en-US" sz="1800" dirty="0"/>
          </a:p>
          <a:p>
            <a:pPr marL="279400" indent="-279400">
              <a:spcAft>
                <a:spcPts val="1400"/>
              </a:spcAft>
              <a:buClr>
                <a:schemeClr val="accent3"/>
              </a:buClr>
              <a:buSzPct val="100000"/>
              <a:buChar char="•"/>
            </a:pPr>
            <a:r>
              <a:rPr lang="en-US" dirty="0" smtClean="0">
                <a:solidFill>
                  <a:schemeClr val="bg1"/>
                </a:solidFill>
              </a:rPr>
              <a:t>Team Members </a:t>
            </a:r>
            <a:r>
              <a:rPr lang="en-US" sz="2800" dirty="0" smtClean="0">
                <a:solidFill>
                  <a:schemeClr val="bg1"/>
                </a:solidFill>
              </a:rPr>
              <a:t>-</a:t>
            </a:r>
            <a:r>
              <a:rPr lang="en-US" dirty="0" smtClean="0">
                <a:solidFill>
                  <a:schemeClr val="bg1"/>
                </a:solidFill>
              </a:rPr>
              <a:t>                                          BHALASUBRAMANIYAN RAMAKRISHNAN </a:t>
            </a:r>
            <a:r>
              <a:rPr lang="en-US" dirty="0" smtClean="0">
                <a:solidFill>
                  <a:schemeClr val="bg2"/>
                </a:solidFill>
              </a:rPr>
              <a:t>CB.EN.U4ECE26009</a:t>
            </a:r>
            <a:br>
              <a:rPr lang="en-US" dirty="0" smtClean="0">
                <a:solidFill>
                  <a:schemeClr val="bg2"/>
                </a:solidFill>
              </a:rPr>
            </a:br>
            <a:r>
              <a:rPr lang="en-US" dirty="0" smtClean="0">
                <a:solidFill>
                  <a:schemeClr val="bg2"/>
                </a:solidFill>
              </a:rPr>
              <a:t>NIRANJAN S - CB.EN.U4ECE26037</a:t>
            </a:r>
            <a:br>
              <a:rPr lang="en-US" dirty="0" smtClean="0">
                <a:solidFill>
                  <a:schemeClr val="bg2"/>
                </a:solidFill>
              </a:rPr>
            </a:br>
            <a:r>
              <a:rPr lang="en-US" dirty="0" smtClean="0">
                <a:solidFill>
                  <a:schemeClr val="bg2"/>
                </a:solidFill>
              </a:rPr>
              <a:t>SHAGARIKA P – CB.EN.U4CCE26135</a:t>
            </a:r>
            <a:br>
              <a:rPr lang="en-US" dirty="0" smtClean="0">
                <a:solidFill>
                  <a:schemeClr val="bg2"/>
                </a:solidFill>
              </a:rPr>
            </a:br>
            <a:r>
              <a:rPr lang="en-US" dirty="0" smtClean="0">
                <a:solidFill>
                  <a:schemeClr val="bg2"/>
                </a:solidFill>
              </a:rPr>
              <a:t>POOJA S – CB.EN.U4CCE26137</a:t>
            </a:r>
            <a:endParaRPr lang="en-US" dirty="0">
              <a:solidFill>
                <a:schemeClr val="bg2"/>
              </a:solidFill>
            </a:endParaRPr>
          </a:p>
          <a:p>
            <a:pPr marL="279400" indent="-279400">
              <a:spcAft>
                <a:spcPts val="1400"/>
              </a:spcAft>
              <a:buClr>
                <a:schemeClr val="accent3"/>
              </a:buClr>
              <a:buSzPct val="100000"/>
              <a:buChar char="•"/>
            </a:pPr>
            <a:r>
              <a:rPr lang="en-US" sz="1800" dirty="0" smtClean="0">
                <a:solidFill>
                  <a:schemeClr val="bg1"/>
                </a:solidFill>
              </a:rPr>
              <a:t>Selected </a:t>
            </a:r>
            <a:r>
              <a:rPr lang="en-US" sz="1800" dirty="0">
                <a:solidFill>
                  <a:schemeClr val="bg1"/>
                </a:solidFill>
              </a:rPr>
              <a:t>Domain </a:t>
            </a:r>
            <a:r>
              <a:rPr lang="en-US" sz="1800" dirty="0" smtClean="0">
                <a:solidFill>
                  <a:schemeClr val="bg1"/>
                </a:solidFill>
              </a:rPr>
              <a:t>– 1 </a:t>
            </a:r>
            <a:r>
              <a:rPr lang="en-US" b="1" dirty="0" smtClean="0"/>
              <a:t> </a:t>
            </a:r>
            <a:r>
              <a:rPr lang="en-US" b="1" dirty="0" smtClean="0">
                <a:solidFill>
                  <a:schemeClr val="bg2"/>
                </a:solidFill>
              </a:rPr>
              <a:t>Intelligent Systems &amp; Digital Futures</a:t>
            </a:r>
            <a:endParaRPr lang="en-US" sz="1800" dirty="0">
              <a:solidFill>
                <a:schemeClr val="bg2"/>
              </a:solidFill>
            </a:endParaRPr>
          </a:p>
          <a:p>
            <a:pPr marL="279400" indent="-279400">
              <a:spcAft>
                <a:spcPts val="1400"/>
              </a:spcAft>
              <a:buClr>
                <a:schemeClr val="accent3"/>
              </a:buClr>
              <a:buSzPct val="100000"/>
              <a:buChar char="•"/>
            </a:pPr>
            <a:r>
              <a:rPr lang="en-US" sz="1800" dirty="0">
                <a:solidFill>
                  <a:schemeClr val="bg1"/>
                </a:solidFill>
              </a:rPr>
              <a:t>Problem Statement </a:t>
            </a:r>
            <a:r>
              <a:rPr lang="en-US" sz="1800" dirty="0" smtClean="0">
                <a:solidFill>
                  <a:schemeClr val="bg1"/>
                </a:solidFill>
              </a:rPr>
              <a:t>– </a:t>
            </a:r>
            <a:r>
              <a:rPr lang="en-US" dirty="0" smtClean="0">
                <a:solidFill>
                  <a:schemeClr val="bg1"/>
                </a:solidFill>
              </a:rPr>
              <a:t>Migrant workers often lose access to government benefits after migration because they do not know which schemes they qualify for, what documents they need, or how to apply in a new state and also an language barrier.</a:t>
            </a:r>
            <a:endParaRPr lang="en-US" sz="18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p:nvPr>
        </p:nvSpPr>
        <p:spPr>
          <a:xfrm>
            <a:off x="3246120" y="320040"/>
            <a:ext cx="7498080" cy="822960"/>
          </a:xfrm>
          <a:prstGeom prst="rect">
            <a:avLst/>
          </a:prstGeom>
          <a:noFill/>
          <a:ln/>
        </p:spPr>
        <p:txBody>
          <a:bodyPr wrap="square" lIns="0" tIns="0" rIns="0" bIns="0" rtlCol="0" anchor="ctr"/>
          <a:lstStyle/>
          <a:p>
            <a:r>
              <a:rPr smtClean="0"/>
              <a:t>Bridging the Gap Between Workers and Welfare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457200" y="384048"/>
            <a:ext cx="2542032"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2376914"/>
          </a:xfrm>
          <a:prstGeom prst="rect">
            <a:avLst/>
          </a:prstGeom>
          <a:noFill/>
          <a:ln/>
        </p:spPr>
        <p:txBody>
          <a:bodyPr wrap="square" lIns="0" tIns="0" rIns="0" bIns="0" rtlCol="0" anchor="ctr"/>
          <a:lstStyle/>
          <a:p>
            <a:endParaRPr lang="en-US" dirty="0"/>
          </a:p>
        </p:txBody>
      </p:sp>
      <p:sp>
        <p:nvSpPr>
          <p:cNvPr id="10" name="Prompts"/>
          <p:cNvSpPr txBox="1"/>
          <p:nvPr/>
        </p:nvSpPr>
        <p:spPr>
          <a:xfrm>
            <a:off x="736092" y="2723718"/>
            <a:ext cx="10424160" cy="3014929"/>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b="1" dirty="0" smtClean="0">
                <a:solidFill>
                  <a:schemeClr val="tx1"/>
                </a:solidFill>
              </a:rPr>
              <a:t>What exactly needs to be solved?</a:t>
            </a:r>
          </a:p>
          <a:p>
            <a:pPr marL="279400" indent="-279400">
              <a:spcAft>
                <a:spcPts val="1000"/>
              </a:spcAft>
              <a:buClr>
                <a:schemeClr val="accent1"/>
              </a:buClr>
              <a:buSzPct val="100000"/>
            </a:pPr>
            <a:r>
              <a:rPr lang="en-US" b="1" dirty="0" smtClean="0"/>
              <a:t>   </a:t>
            </a:r>
            <a:r>
              <a:rPr lang="en-US" dirty="0" smtClean="0"/>
              <a:t>  We need to bridge the gap between a worker being eligible for a benefit and actually claiming it. Workers need a simple way to discover eligible schemes, understand them in their own language, identify missing documents, know where to apply, and get help when they are stuck.</a:t>
            </a:r>
            <a:endParaRPr lang="en-US" sz="1800" dirty="0"/>
          </a:p>
          <a:p>
            <a:pPr marL="279400" indent="-279400">
              <a:spcAft>
                <a:spcPts val="1000"/>
              </a:spcAft>
              <a:buClr>
                <a:schemeClr val="accent1"/>
              </a:buClr>
              <a:buSzPct val="100000"/>
              <a:buChar char="•"/>
            </a:pPr>
            <a:r>
              <a:rPr lang="en-US" sz="1800" b="1" dirty="0">
                <a:solidFill>
                  <a:schemeClr val="tx1"/>
                </a:solidFill>
              </a:rPr>
              <a:t>Why is it important right now</a:t>
            </a:r>
            <a:r>
              <a:rPr lang="en-US" sz="1800" b="1" dirty="0" smtClean="0">
                <a:solidFill>
                  <a:schemeClr val="tx1"/>
                </a:solidFill>
              </a:rPr>
              <a:t>?</a:t>
            </a:r>
          </a:p>
          <a:p>
            <a:pPr marL="279400" indent="-279400">
              <a:spcAft>
                <a:spcPts val="1000"/>
              </a:spcAft>
              <a:buClr>
                <a:schemeClr val="accent1"/>
              </a:buClr>
              <a:buSzPct val="100000"/>
            </a:pPr>
            <a:r>
              <a:rPr lang="en-US" b="1" dirty="0" smtClean="0"/>
              <a:t>      </a:t>
            </a:r>
            <a:r>
              <a:rPr lang="en-US" dirty="0" smtClean="0"/>
              <a:t>India’s digital public infrastructure is expanding, but last-mile benefit delivery remains fragmented . Migrant workers frequently cross state boundaries for employment while welfare information remains fragmented across schemes, portals, languages, and departments. A simple voice-first system can make essential benefits easier to discover, understand, and access.</a:t>
            </a:r>
          </a:p>
          <a:p>
            <a:pPr marL="279400" indent="-279400">
              <a:spcAft>
                <a:spcPts val="1000"/>
              </a:spcAft>
              <a:buClr>
                <a:schemeClr val="accent1"/>
              </a:buClr>
              <a:buSzPct val="100000"/>
            </a:pPr>
            <a:endParaRPr lang="en-US" sz="1800" b="1"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pPr algn="ctr"/>
              <a:t>2</a:t>
            </a:fld>
            <a:endParaRPr lang="en-US"/>
          </a:p>
        </p:txBody>
      </p:sp>
      <p:sp>
        <p:nvSpPr>
          <p:cNvPr id="14" name="TextBox 13"/>
          <p:cNvSpPr txBox="1"/>
          <p:nvPr/>
        </p:nvSpPr>
        <p:spPr>
          <a:xfrm>
            <a:off x="1101852" y="1417320"/>
            <a:ext cx="9261348" cy="1200329"/>
          </a:xfrm>
          <a:prstGeom prst="rect">
            <a:avLst/>
          </a:prstGeom>
          <a:noFill/>
        </p:spPr>
        <p:txBody>
          <a:bodyPr wrap="square" rtlCol="0">
            <a:spAutoFit/>
          </a:bodyPr>
          <a:lstStyle/>
          <a:p>
            <a:r>
              <a:rPr lang="en-US" dirty="0" smtClean="0"/>
              <a:t>Internal migrant workers frequently lose access to ration benefits, health records, school admission support, and legal protections when they move between states. Documents exist, but workers do not know which scheme applies, where to apply, or how to prove eligibility. Language barriers and intermediary exploitation worsen exclusion.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am Name"/>
          <p:cNvSpPr txBox="1"/>
          <p:nvPr/>
        </p:nvSpPr>
        <p:spPr>
          <a:xfrm>
            <a:off x="313765" y="384048"/>
            <a:ext cx="2685467"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pic>
        <p:nvPicPr>
          <p:cNvPr id="4"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5" name="Text 7"/>
          <p:cNvSpPr>
            <a:spLocks noGrp="1"/>
          </p:cNvSpPr>
          <p:nvPr>
            <p:ph type="title" idx="108"/>
          </p:nvPr>
        </p:nvSpPr>
        <p:spPr>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6" name="Lead Icon Hex"/>
          <p:cNvSpPr/>
          <p:nvPr/>
        </p:nvSpPr>
        <p:spPr>
          <a:xfrm>
            <a:off x="548640" y="1463040"/>
            <a:ext cx="457200" cy="395935"/>
          </a:xfrm>
          <a:prstGeom prst="hexagon">
            <a:avLst/>
          </a:prstGeom>
          <a:solidFill>
            <a:schemeClr val="accent3"/>
          </a:solidFill>
          <a:ln/>
        </p:spPr>
      </p:sp>
      <p:pic>
        <p:nvPicPr>
          <p:cNvPr id="7" name="Lead Icon" descr="Lightbulb icon"/>
          <p:cNvPicPr>
            <a:picLocks noChangeAspect="1"/>
          </p:cNvPicPr>
          <p:nvPr/>
        </p:nvPicPr>
        <p:blipFill>
          <a:blip r:embed="rId3"/>
          <a:stretch>
            <a:fillRect/>
          </a:stretch>
        </p:blipFill>
        <p:spPr>
          <a:xfrm>
            <a:off x="640080" y="1523390"/>
            <a:ext cx="274320" cy="274320"/>
          </a:xfrm>
          <a:prstGeom prst="rect">
            <a:avLst/>
          </a:prstGeom>
        </p:spPr>
      </p:pic>
      <p:pic>
        <p:nvPicPr>
          <p:cNvPr id="11" name="Picture 10" descr="Screenshot 2026-10-09 203851.png"/>
          <p:cNvPicPr>
            <a:picLocks noChangeAspect="1"/>
          </p:cNvPicPr>
          <p:nvPr/>
        </p:nvPicPr>
        <p:blipFill>
          <a:blip r:embed="rId4"/>
          <a:stretch>
            <a:fillRect/>
          </a:stretch>
        </p:blipFill>
        <p:spPr>
          <a:xfrm>
            <a:off x="116540" y="1143000"/>
            <a:ext cx="12075459" cy="502471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smtClean="0"/>
              <a:t>CURRENT SITUATION &amp; CONTEXT</a:t>
            </a:r>
            <a:endParaRPr lang="en-US" dirty="0"/>
          </a:p>
        </p:txBody>
      </p:sp>
      <p:sp>
        <p:nvSpPr>
          <p:cNvPr id="3" name="Team Name"/>
          <p:cNvSpPr txBox="1"/>
          <p:nvPr/>
        </p:nvSpPr>
        <p:spPr>
          <a:xfrm>
            <a:off x="313765" y="384048"/>
            <a:ext cx="2685467"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pic>
        <p:nvPicPr>
          <p:cNvPr id="4"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6" name="Lead Icon Hex"/>
          <p:cNvSpPr/>
          <p:nvPr/>
        </p:nvSpPr>
        <p:spPr>
          <a:xfrm>
            <a:off x="548640" y="1463040"/>
            <a:ext cx="457200" cy="395935"/>
          </a:xfrm>
          <a:prstGeom prst="hexagon">
            <a:avLst/>
          </a:prstGeom>
          <a:solidFill>
            <a:schemeClr val="accent3"/>
          </a:solidFill>
          <a:ln/>
        </p:spPr>
      </p:sp>
      <p:pic>
        <p:nvPicPr>
          <p:cNvPr id="7" name="Lead Icon" descr="Lightbulb icon"/>
          <p:cNvPicPr>
            <a:picLocks noChangeAspect="1"/>
          </p:cNvPicPr>
          <p:nvPr/>
        </p:nvPicPr>
        <p:blipFill>
          <a:blip r:embed="rId3"/>
          <a:stretch>
            <a:fillRect/>
          </a:stretch>
        </p:blipFill>
        <p:spPr>
          <a:xfrm>
            <a:off x="640080" y="1523390"/>
            <a:ext cx="274320" cy="274320"/>
          </a:xfrm>
          <a:prstGeom prst="rect">
            <a:avLst/>
          </a:prstGeom>
        </p:spPr>
      </p:pic>
      <p:pic>
        <p:nvPicPr>
          <p:cNvPr id="12" name="Picture 11" descr="Screenshot 2026-10-09 203608.png"/>
          <p:cNvPicPr>
            <a:picLocks noChangeAspect="1"/>
          </p:cNvPicPr>
          <p:nvPr/>
        </p:nvPicPr>
        <p:blipFill>
          <a:blip r:embed="rId4"/>
          <a:stretch>
            <a:fillRect/>
          </a:stretch>
        </p:blipFill>
        <p:spPr>
          <a:xfrm>
            <a:off x="313765" y="1347714"/>
            <a:ext cx="11820129" cy="46676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smtClean="0"/>
              <a:t>KEY CHALLENGES</a:t>
            </a:r>
            <a:endParaRPr lang="en-US" dirty="0"/>
          </a:p>
        </p:txBody>
      </p:sp>
      <p:sp>
        <p:nvSpPr>
          <p:cNvPr id="3" name="Lead Icon Hex"/>
          <p:cNvSpPr/>
          <p:nvPr/>
        </p:nvSpPr>
        <p:spPr>
          <a:xfrm>
            <a:off x="548640" y="1463040"/>
            <a:ext cx="457200" cy="395935"/>
          </a:xfrm>
          <a:prstGeom prst="hexagon">
            <a:avLst/>
          </a:prstGeom>
          <a:solidFill>
            <a:schemeClr val="accent3"/>
          </a:solidFill>
          <a:ln/>
        </p:spPr>
      </p:sp>
      <p:pic>
        <p:nvPicPr>
          <p:cNvPr id="4" name="Lead Icon" descr="Lightbulb icon"/>
          <p:cNvPicPr>
            <a:picLocks noChangeAspect="1"/>
          </p:cNvPicPr>
          <p:nvPr/>
        </p:nvPicPr>
        <p:blipFill>
          <a:blip r:embed="rId2"/>
          <a:stretch>
            <a:fillRect/>
          </a:stretch>
        </p:blipFill>
        <p:spPr>
          <a:xfrm>
            <a:off x="640080" y="1523390"/>
            <a:ext cx="274320" cy="274320"/>
          </a:xfrm>
          <a:prstGeom prst="rect">
            <a:avLst/>
          </a:prstGeom>
        </p:spPr>
      </p:pic>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Team Name"/>
          <p:cNvSpPr txBox="1"/>
          <p:nvPr/>
        </p:nvSpPr>
        <p:spPr>
          <a:xfrm>
            <a:off x="313765" y="384048"/>
            <a:ext cx="2685467"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sp>
        <p:nvSpPr>
          <p:cNvPr id="8" name="Rectangle 7"/>
          <p:cNvSpPr/>
          <p:nvPr/>
        </p:nvSpPr>
        <p:spPr>
          <a:xfrm>
            <a:off x="1437118" y="1428378"/>
            <a:ext cx="5963171" cy="369332"/>
          </a:xfrm>
          <a:prstGeom prst="rect">
            <a:avLst/>
          </a:prstGeom>
        </p:spPr>
        <p:txBody>
          <a:bodyPr wrap="none">
            <a:spAutoFit/>
          </a:bodyPr>
          <a:lstStyle/>
          <a:p>
            <a:r>
              <a:rPr lang="en-US" b="1" dirty="0" smtClean="0">
                <a:solidFill>
                  <a:schemeClr val="accent2"/>
                </a:solidFill>
              </a:rPr>
              <a:t>Main difficulties, bottlenecks, root causes and consequences</a:t>
            </a:r>
            <a:endParaRPr lang="en-US" dirty="0"/>
          </a:p>
        </p:txBody>
      </p:sp>
      <p:pic>
        <p:nvPicPr>
          <p:cNvPr id="10" name="Picture 9" descr="Screenshot 2026-10-09 203327.png"/>
          <p:cNvPicPr>
            <a:picLocks noChangeAspect="1"/>
          </p:cNvPicPr>
          <p:nvPr/>
        </p:nvPicPr>
        <p:blipFill>
          <a:blip r:embed="rId4"/>
          <a:stretch>
            <a:fillRect/>
          </a:stretch>
        </p:blipFill>
        <p:spPr>
          <a:xfrm>
            <a:off x="548640" y="1858975"/>
            <a:ext cx="10576560" cy="43714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smtClean="0"/>
              <a:t>EXISTING SOLUTIONS / APPROACHES</a:t>
            </a:r>
            <a:endParaRPr lang="en-US" dirty="0"/>
          </a:p>
        </p:txBody>
      </p:sp>
      <p:pic>
        <p:nvPicPr>
          <p:cNvPr id="3"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4" name="Team Name"/>
          <p:cNvSpPr txBox="1"/>
          <p:nvPr/>
        </p:nvSpPr>
        <p:spPr>
          <a:xfrm>
            <a:off x="313765" y="384048"/>
            <a:ext cx="2685467"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sp>
        <p:nvSpPr>
          <p:cNvPr id="7" name="Rectangle 6"/>
          <p:cNvSpPr/>
          <p:nvPr/>
        </p:nvSpPr>
        <p:spPr>
          <a:xfrm>
            <a:off x="1247964" y="1523390"/>
            <a:ext cx="5106141" cy="369332"/>
          </a:xfrm>
          <a:prstGeom prst="rect">
            <a:avLst/>
          </a:prstGeom>
        </p:spPr>
        <p:txBody>
          <a:bodyPr wrap="none">
            <a:spAutoFit/>
          </a:bodyPr>
          <a:lstStyle/>
          <a:p>
            <a:r>
              <a:rPr lang="en-US" b="1" dirty="0" smtClean="0">
                <a:solidFill>
                  <a:schemeClr val="accent2"/>
                </a:solidFill>
              </a:rPr>
              <a:t>What is already being done, and where it falls short</a:t>
            </a:r>
            <a:endParaRPr lang="en-US" dirty="0"/>
          </a:p>
        </p:txBody>
      </p:sp>
      <p:sp>
        <p:nvSpPr>
          <p:cNvPr id="9" name="Lead Icon Hex"/>
          <p:cNvSpPr/>
          <p:nvPr/>
        </p:nvSpPr>
        <p:spPr>
          <a:xfrm>
            <a:off x="548640" y="1463040"/>
            <a:ext cx="457200" cy="395935"/>
          </a:xfrm>
          <a:prstGeom prst="hexagon">
            <a:avLst/>
          </a:prstGeom>
          <a:solidFill>
            <a:schemeClr val="accent3"/>
          </a:solidFill>
          <a:ln/>
        </p:spPr>
      </p:sp>
      <p:pic>
        <p:nvPicPr>
          <p:cNvPr id="10" name="Lead Icon" descr="Lightbulb icon"/>
          <p:cNvPicPr>
            <a:picLocks noChangeAspect="1"/>
          </p:cNvPicPr>
          <p:nvPr/>
        </p:nvPicPr>
        <p:blipFill>
          <a:blip r:embed="rId3"/>
          <a:stretch>
            <a:fillRect/>
          </a:stretch>
        </p:blipFill>
        <p:spPr>
          <a:xfrm>
            <a:off x="640080" y="1523390"/>
            <a:ext cx="274320" cy="274320"/>
          </a:xfrm>
          <a:prstGeom prst="rect">
            <a:avLst/>
          </a:prstGeom>
        </p:spPr>
      </p:pic>
      <p:pic>
        <p:nvPicPr>
          <p:cNvPr id="12" name="Picture 11" descr="Screenshot 2026-10-09 201404.png"/>
          <p:cNvPicPr>
            <a:picLocks noChangeAspect="1"/>
          </p:cNvPicPr>
          <p:nvPr/>
        </p:nvPicPr>
        <p:blipFill>
          <a:blip r:embed="rId4"/>
          <a:stretch>
            <a:fillRect/>
          </a:stretch>
        </p:blipFill>
        <p:spPr>
          <a:xfrm>
            <a:off x="2734947" y="2000212"/>
            <a:ext cx="6722105" cy="2857575"/>
          </a:xfrm>
          <a:prstGeom prst="rect">
            <a:avLst/>
          </a:prstGeom>
        </p:spPr>
      </p:pic>
      <p:sp>
        <p:nvSpPr>
          <p:cNvPr id="13" name="Rectangle 12"/>
          <p:cNvSpPr/>
          <p:nvPr/>
        </p:nvSpPr>
        <p:spPr>
          <a:xfrm>
            <a:off x="736092" y="4857787"/>
            <a:ext cx="8720960" cy="1477328"/>
          </a:xfrm>
          <a:prstGeom prst="rect">
            <a:avLst/>
          </a:prstGeom>
        </p:spPr>
        <p:txBody>
          <a:bodyPr wrap="square">
            <a:spAutoFit/>
          </a:bodyPr>
          <a:lstStyle/>
          <a:p>
            <a:endParaRPr lang="en-US" b="1" dirty="0" smtClean="0"/>
          </a:p>
          <a:p>
            <a:r>
              <a:rPr lang="en-US" b="1" dirty="0" smtClean="0"/>
              <a:t>Key gap:</a:t>
            </a:r>
            <a:r>
              <a:rPr lang="en-US" dirty="0" smtClean="0"/>
              <a:t> Migrant workers lack one simple, multilingual system to discover eligible schemes, understand documents, and apply with confidence.</a:t>
            </a:r>
          </a:p>
          <a:p>
            <a:r>
              <a:rPr lang="en-US" dirty="0" smtClean="0"/>
              <a:t/>
            </a:r>
            <a:br>
              <a:rPr lang="en-US"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smtClean="0"/>
              <a:t>PROBLEM INSIGHTS &amp; OPPORTUNITY AREAS</a:t>
            </a:r>
            <a:endParaRPr lang="en-US" dirty="0"/>
          </a:p>
        </p:txBody>
      </p:sp>
      <p:pic>
        <p:nvPicPr>
          <p:cNvPr id="3"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4" name="Team Name"/>
          <p:cNvSpPr txBox="1"/>
          <p:nvPr/>
        </p:nvSpPr>
        <p:spPr>
          <a:xfrm>
            <a:off x="313765" y="384048"/>
            <a:ext cx="2685467"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pic>
        <p:nvPicPr>
          <p:cNvPr id="5" name="Picture 4" descr="Screenshot 2026-10-09 204833.png"/>
          <p:cNvPicPr>
            <a:picLocks noChangeAspect="1"/>
          </p:cNvPicPr>
          <p:nvPr/>
        </p:nvPicPr>
        <p:blipFill>
          <a:blip r:embed="rId3"/>
          <a:stretch>
            <a:fillRect/>
          </a:stretch>
        </p:blipFill>
        <p:spPr>
          <a:xfrm>
            <a:off x="313766" y="1143001"/>
            <a:ext cx="11636188" cy="50426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smtClean="0"/>
              <a:t>INITIAL DIRECTION &amp; EXPECTED OUTCOME</a:t>
            </a:r>
            <a:endParaRPr lang="en-US" dirty="0"/>
          </a:p>
        </p:txBody>
      </p:sp>
      <p:pic>
        <p:nvPicPr>
          <p:cNvPr id="3" name="Team Icon" descr="Team icon"/>
          <p:cNvPicPr>
            <a:picLocks noChangeAspect="1"/>
          </p:cNvPicPr>
          <p:nvPr/>
        </p:nvPicPr>
        <p:blipFill>
          <a:blip r:embed="rId2"/>
          <a:stretch>
            <a:fillRect/>
          </a:stretch>
        </p:blipFill>
        <p:spPr>
          <a:xfrm>
            <a:off x="736092" y="548640"/>
            <a:ext cx="365760" cy="365760"/>
          </a:xfrm>
          <a:prstGeom prst="rect">
            <a:avLst/>
          </a:prstGeom>
        </p:spPr>
      </p:pic>
      <p:sp>
        <p:nvSpPr>
          <p:cNvPr id="4" name="Team Name"/>
          <p:cNvSpPr txBox="1"/>
          <p:nvPr/>
        </p:nvSpPr>
        <p:spPr>
          <a:xfrm>
            <a:off x="313765" y="384048"/>
            <a:ext cx="2685467" cy="694944"/>
          </a:xfrm>
          <a:prstGeom prst="rect">
            <a:avLst/>
          </a:prstGeom>
          <a:noFill/>
          <a:ln>
            <a:solidFill>
              <a:schemeClr val="accent1"/>
            </a:solidFill>
          </a:ln>
        </p:spPr>
        <p:txBody>
          <a:bodyPr wrap="square" lIns="0" tIns="0" rIns="0" bIns="0" rtlCol="0" anchor="ctr">
            <a:noAutofit/>
          </a:bodyPr>
          <a:lstStyle/>
          <a:p>
            <a:pPr marL="0" indent="0">
              <a:buNone/>
            </a:pPr>
            <a:r>
              <a:rPr lang="en-US" b="1" kern="0" spc="300" dirty="0" smtClean="0">
                <a:solidFill>
                  <a:schemeClr val="accent5"/>
                </a:solidFill>
              </a:rPr>
              <a:t>            TEAM</a:t>
            </a:r>
          </a:p>
          <a:p>
            <a:pPr marL="0" indent="0">
              <a:buNone/>
            </a:pPr>
            <a:r>
              <a:rPr lang="en-US" dirty="0" smtClean="0"/>
              <a:t>                      </a:t>
            </a:r>
            <a:r>
              <a:rPr lang="en-US" b="1" dirty="0" smtClean="0"/>
              <a:t>YUKTHI</a:t>
            </a:r>
            <a:endParaRPr lang="en-US" b="1" dirty="0"/>
          </a:p>
        </p:txBody>
      </p:sp>
      <p:pic>
        <p:nvPicPr>
          <p:cNvPr id="5" name="Picture 4" descr="Screenshot 2026-10-09 211725.png"/>
          <p:cNvPicPr>
            <a:picLocks noChangeAspect="1"/>
          </p:cNvPicPr>
          <p:nvPr/>
        </p:nvPicPr>
        <p:blipFill>
          <a:blip r:embed="rId3"/>
          <a:stretch>
            <a:fillRect/>
          </a:stretch>
        </p:blipFill>
        <p:spPr>
          <a:xfrm>
            <a:off x="193862" y="1249077"/>
            <a:ext cx="11817302" cy="5040353"/>
          </a:xfrm>
          <a:prstGeom prst="rect">
            <a:avLst/>
          </a:prstGeom>
        </p:spPr>
      </p:pic>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302</Words>
  <Application>Microsoft Office PowerPoint</Application>
  <PresentationFormat>Custom</PresentationFormat>
  <Paragraphs>42</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Genesis Ideathon</vt:lpstr>
      <vt:lpstr>Slide 1</vt:lpstr>
      <vt:lpstr>Bridging the Gap Between Workers and Welfare</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Perumal Seenivasagam</cp:lastModifiedBy>
  <cp:revision>19</cp:revision>
  <dcterms:created xsi:type="dcterms:W3CDTF">2026-10-07T15:27:40Z</dcterms:created>
  <dcterms:modified xsi:type="dcterms:W3CDTF">2026-10-09T15:48:23Z</dcterms:modified>
</cp:coreProperties>
</file>